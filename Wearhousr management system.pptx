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4" r:id="rId1"/>
  </p:sldMasterIdLst>
  <p:sldIdLst>
    <p:sldId id="256" r:id="rId2"/>
    <p:sldId id="257" r:id="rId3"/>
    <p:sldId id="258" r:id="rId4"/>
    <p:sldId id="259" r:id="rId5"/>
    <p:sldId id="260" r:id="rId6"/>
    <p:sldId id="261" r:id="rId7"/>
    <p:sldId id="262" r:id="rId8"/>
    <p:sldId id="264" r:id="rId9"/>
    <p:sldId id="263"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96DFF08F-DC6B-4601-B491-B0F83F6DD2DA}" type="datetimeFigureOut">
              <a:rPr lang="en-US" dirty="0"/>
              <a:t>12/12/2025</a:t>
            </a:fld>
            <a:endParaRPr lang="en-US" dirty="0"/>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4FAB73BC-B049-4115-A692-8D63A059BFB8}" type="slidenum">
              <a:rPr lang="en-US" dirty="0"/>
              <a:t>‹#›</a:t>
            </a:fld>
            <a:endParaRPr lang="en-US" dirty="0"/>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12/12/2025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dirty="0"/>
              <a:t>12/12/2025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DFF08F-DC6B-4601-B491-B0F83F6DD2DA}" type="datetimeFigureOut">
              <a:rPr lang="en-US" dirty="0"/>
              <a:t>12/12/2025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DFF08F-DC6B-4601-B491-B0F83F6DD2DA}" type="datetimeFigureOut">
              <a:rPr lang="en-US" dirty="0"/>
              <a:t>12/12/2025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DFF08F-DC6B-4601-B491-B0F83F6DD2DA}" type="datetimeFigureOut">
              <a:rPr lang="en-US" dirty="0"/>
              <a:t>12/12/2025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DFF08F-DC6B-4601-B491-B0F83F6DD2DA}" type="datetimeFigureOut">
              <a:rPr lang="en-US" dirty="0"/>
              <a:t>12/12/2025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t>12/12/2025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t>12/12/2025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12/12/2025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12/12/2025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96DFF08F-DC6B-4601-B491-B0F83F6DD2DA}" type="datetimeFigureOut">
              <a:rPr lang="en-US" dirty="0"/>
              <a:pPr/>
              <a:t>12/12/2025</a:t>
            </a:fld>
            <a:endParaRPr lang="en-US" dirty="0"/>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US" dirty="0"/>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F9E69-7224-0448-FC14-89109B151265}"/>
              </a:ext>
            </a:extLst>
          </p:cNvPr>
          <p:cNvSpPr>
            <a:spLocks noGrp="1"/>
          </p:cNvSpPr>
          <p:nvPr>
            <p:ph type="ctrTitle"/>
          </p:nvPr>
        </p:nvSpPr>
        <p:spPr>
          <a:xfrm>
            <a:off x="1109980" y="882376"/>
            <a:ext cx="9966960" cy="3699456"/>
          </a:xfrm>
        </p:spPr>
        <p:txBody>
          <a:bodyPr>
            <a:normAutofit fontScale="90000"/>
          </a:bodyPr>
          <a:lstStyle/>
          <a:p>
            <a:r>
              <a:rPr lang="en-IN" dirty="0" err="1"/>
              <a:t>Wearhousr</a:t>
            </a:r>
            <a:r>
              <a:rPr lang="en-IN" dirty="0"/>
              <a:t> management system</a:t>
            </a:r>
            <a:br>
              <a:rPr lang="en-IN" dirty="0"/>
            </a:br>
            <a:endParaRPr lang="en-IN" dirty="0"/>
          </a:p>
        </p:txBody>
      </p:sp>
      <p:sp>
        <p:nvSpPr>
          <p:cNvPr id="3" name="Subtitle 2">
            <a:extLst>
              <a:ext uri="{FF2B5EF4-FFF2-40B4-BE49-F238E27FC236}">
                <a16:creationId xmlns:a16="http://schemas.microsoft.com/office/drawing/2014/main" id="{749F9097-6518-F49E-6EF1-380F994B16B0}"/>
              </a:ext>
            </a:extLst>
          </p:cNvPr>
          <p:cNvSpPr>
            <a:spLocks noGrp="1"/>
          </p:cNvSpPr>
          <p:nvPr>
            <p:ph type="subTitle" idx="1"/>
          </p:nvPr>
        </p:nvSpPr>
        <p:spPr>
          <a:xfrm>
            <a:off x="1837349" y="5000344"/>
            <a:ext cx="8767860" cy="1388165"/>
          </a:xfrm>
        </p:spPr>
        <p:txBody>
          <a:bodyPr/>
          <a:lstStyle/>
          <a:p>
            <a:r>
              <a:rPr lang="en-IN" dirty="0"/>
              <a:t>.</a:t>
            </a:r>
          </a:p>
          <a:p>
            <a:endParaRPr lang="en-IN" dirty="0"/>
          </a:p>
        </p:txBody>
      </p:sp>
    </p:spTree>
    <p:extLst>
      <p:ext uri="{BB962C8B-B14F-4D97-AF65-F5344CB8AC3E}">
        <p14:creationId xmlns:p14="http://schemas.microsoft.com/office/powerpoint/2010/main" val="40306499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F1F38-5E9E-97A8-2AD7-B9D9AEC3CEFA}"/>
              </a:ext>
            </a:extLst>
          </p:cNvPr>
          <p:cNvSpPr>
            <a:spLocks noGrp="1"/>
          </p:cNvSpPr>
          <p:nvPr>
            <p:ph type="title"/>
          </p:nvPr>
        </p:nvSpPr>
        <p:spPr>
          <a:xfrm>
            <a:off x="560439" y="457200"/>
            <a:ext cx="10153281" cy="703006"/>
          </a:xfrm>
        </p:spPr>
        <p:txBody>
          <a:bodyPr/>
          <a:lstStyle/>
          <a:p>
            <a:r>
              <a:rPr lang="en-IN" dirty="0"/>
              <a:t>Process:</a:t>
            </a:r>
          </a:p>
        </p:txBody>
      </p:sp>
      <p:sp>
        <p:nvSpPr>
          <p:cNvPr id="3" name="Content Placeholder 2">
            <a:extLst>
              <a:ext uri="{FF2B5EF4-FFF2-40B4-BE49-F238E27FC236}">
                <a16:creationId xmlns:a16="http://schemas.microsoft.com/office/drawing/2014/main" id="{E73F5228-CE68-DAEC-31C3-78A6E5DC6B8D}"/>
              </a:ext>
            </a:extLst>
          </p:cNvPr>
          <p:cNvSpPr>
            <a:spLocks noGrp="1"/>
          </p:cNvSpPr>
          <p:nvPr>
            <p:ph idx="1"/>
          </p:nvPr>
        </p:nvSpPr>
        <p:spPr>
          <a:xfrm>
            <a:off x="638455" y="1297859"/>
            <a:ext cx="11179919" cy="5004618"/>
          </a:xfrm>
        </p:spPr>
        <p:txBody>
          <a:bodyPr>
            <a:normAutofit/>
          </a:bodyPr>
          <a:lstStyle/>
          <a:p>
            <a:r>
              <a:rPr lang="en-US" dirty="0"/>
              <a:t>First, we have to receive the products from the vehicle. At that time, we first check the vehicle number and then check the quantity sheet. If both match, we unload the products.</a:t>
            </a:r>
          </a:p>
          <a:p>
            <a:r>
              <a:rPr lang="en-US" dirty="0"/>
              <a:t>After unloading, the products are moved to the storage area. Based on the product type, we store them in the appropriate storage space, considering room temperature if required</a:t>
            </a:r>
            <a:r>
              <a:rPr lang="en-IN" dirty="0"/>
              <a:t>.</a:t>
            </a:r>
          </a:p>
          <a:p>
            <a:r>
              <a:rPr lang="en-US" dirty="0"/>
              <a:t>During storage, we place/store the products by batch type. This means storing the same type of product together based on their category for easy identification, and we follow the FIFO rule while storing the products</a:t>
            </a:r>
            <a:r>
              <a:rPr lang="en-IN" dirty="0"/>
              <a:t>.</a:t>
            </a:r>
          </a:p>
          <a:p>
            <a:r>
              <a:rPr lang="en-US" dirty="0"/>
              <a:t>If any products are damaged or missing, we compare the quantity and record the reason under wastage.</a:t>
            </a:r>
          </a:p>
          <a:p>
            <a:r>
              <a:rPr lang="en-US" dirty="0"/>
              <a:t>If there are any orders, we first pack the products in boxes and mention the product details like quantity, product name, and address on the box.</a:t>
            </a:r>
          </a:p>
          <a:p>
            <a:pPr marL="45720" indent="0">
              <a:buNone/>
            </a:pPr>
            <a:r>
              <a:rPr lang="en-IN" dirty="0"/>
              <a:t>. </a:t>
            </a:r>
          </a:p>
          <a:p>
            <a:endParaRPr lang="en-IN" dirty="0"/>
          </a:p>
        </p:txBody>
      </p:sp>
    </p:spTree>
    <p:extLst>
      <p:ext uri="{BB962C8B-B14F-4D97-AF65-F5344CB8AC3E}">
        <p14:creationId xmlns:p14="http://schemas.microsoft.com/office/powerpoint/2010/main" val="36458307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538AA-C3D4-91E4-A55A-5E6025245E8D}"/>
              </a:ext>
            </a:extLst>
          </p:cNvPr>
          <p:cNvSpPr>
            <a:spLocks noGrp="1"/>
          </p:cNvSpPr>
          <p:nvPr>
            <p:ph type="title"/>
          </p:nvPr>
        </p:nvSpPr>
        <p:spPr>
          <a:xfrm>
            <a:off x="1143000" y="393290"/>
            <a:ext cx="9875520" cy="368710"/>
          </a:xfrm>
        </p:spPr>
        <p:txBody>
          <a:bodyPr>
            <a:normAutofit fontScale="90000"/>
          </a:bodyPr>
          <a:lstStyle/>
          <a:p>
            <a:r>
              <a:rPr lang="en-IN" dirty="0"/>
              <a:t>.</a:t>
            </a:r>
            <a:br>
              <a:rPr lang="en-IN" dirty="0"/>
            </a:br>
            <a:endParaRPr lang="en-IN" dirty="0"/>
          </a:p>
        </p:txBody>
      </p:sp>
      <p:sp>
        <p:nvSpPr>
          <p:cNvPr id="3" name="Content Placeholder 2">
            <a:extLst>
              <a:ext uri="{FF2B5EF4-FFF2-40B4-BE49-F238E27FC236}">
                <a16:creationId xmlns:a16="http://schemas.microsoft.com/office/drawing/2014/main" id="{C8F49FE4-2F1C-7537-8FDB-9E58204C188C}"/>
              </a:ext>
            </a:extLst>
          </p:cNvPr>
          <p:cNvSpPr>
            <a:spLocks noGrp="1"/>
          </p:cNvSpPr>
          <p:nvPr>
            <p:ph idx="1"/>
          </p:nvPr>
        </p:nvSpPr>
        <p:spPr>
          <a:xfrm>
            <a:off x="403123" y="963561"/>
            <a:ext cx="11434915" cy="5319252"/>
          </a:xfrm>
        </p:spPr>
        <p:txBody>
          <a:bodyPr/>
          <a:lstStyle/>
          <a:p>
            <a:r>
              <a:rPr lang="en-US" dirty="0"/>
              <a:t>We then ship the products by loading them into the vehicle, prepare the gate pass, and hand it over to the driver.</a:t>
            </a:r>
          </a:p>
          <a:p>
            <a:r>
              <a:rPr lang="en-US" dirty="0"/>
              <a:t>Finally, we track the vehicle for safe delivery and inform the customers once the unloading is completed.</a:t>
            </a:r>
          </a:p>
          <a:p>
            <a:r>
              <a:rPr lang="en-US" dirty="0"/>
              <a:t>During loading, unloading, packing, and shipment, we must focus on lead time and work to reduce it as much as possible.</a:t>
            </a:r>
          </a:p>
          <a:p>
            <a:endParaRPr lang="en-US" dirty="0"/>
          </a:p>
          <a:p>
            <a:pPr marL="45720" indent="0">
              <a:buNone/>
            </a:pPr>
            <a:r>
              <a:rPr lang="en-US" dirty="0"/>
              <a:t>   </a:t>
            </a:r>
            <a:endParaRPr lang="en-IN" dirty="0">
              <a:solidFill>
                <a:srgbClr val="7030A0"/>
              </a:solidFill>
            </a:endParaRPr>
          </a:p>
        </p:txBody>
      </p:sp>
    </p:spTree>
    <p:extLst>
      <p:ext uri="{BB962C8B-B14F-4D97-AF65-F5344CB8AC3E}">
        <p14:creationId xmlns:p14="http://schemas.microsoft.com/office/powerpoint/2010/main" val="24678609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7F1AA-A965-3396-74A5-C9DE887E56AC}"/>
              </a:ext>
            </a:extLst>
          </p:cNvPr>
          <p:cNvSpPr>
            <a:spLocks noGrp="1"/>
          </p:cNvSpPr>
          <p:nvPr>
            <p:ph type="title"/>
          </p:nvPr>
        </p:nvSpPr>
        <p:spPr>
          <a:xfrm>
            <a:off x="442452" y="353962"/>
            <a:ext cx="11287432" cy="1317522"/>
          </a:xfrm>
        </p:spPr>
        <p:txBody>
          <a:bodyPr/>
          <a:lstStyle/>
          <a:p>
            <a:r>
              <a:rPr lang="en-IN" dirty="0"/>
              <a:t>Technology Stack:</a:t>
            </a:r>
          </a:p>
        </p:txBody>
      </p:sp>
      <p:sp>
        <p:nvSpPr>
          <p:cNvPr id="3" name="Content Placeholder 2">
            <a:extLst>
              <a:ext uri="{FF2B5EF4-FFF2-40B4-BE49-F238E27FC236}">
                <a16:creationId xmlns:a16="http://schemas.microsoft.com/office/drawing/2014/main" id="{7A93570B-6E4F-7292-E814-FBFEA944899E}"/>
              </a:ext>
            </a:extLst>
          </p:cNvPr>
          <p:cNvSpPr>
            <a:spLocks noGrp="1"/>
          </p:cNvSpPr>
          <p:nvPr>
            <p:ph idx="1"/>
          </p:nvPr>
        </p:nvSpPr>
        <p:spPr>
          <a:xfrm>
            <a:off x="865239" y="1759973"/>
            <a:ext cx="10412362" cy="4001729"/>
          </a:xfrm>
        </p:spPr>
        <p:txBody>
          <a:bodyPr/>
          <a:lstStyle/>
          <a:p>
            <a:endParaRPr lang="en-IN" dirty="0"/>
          </a:p>
          <a:p>
            <a:pPr marL="45720" indent="0">
              <a:buNone/>
            </a:pPr>
            <a:endParaRPr lang="en-IN" dirty="0"/>
          </a:p>
          <a:p>
            <a:pPr marL="45720" indent="0">
              <a:buNone/>
            </a:pPr>
            <a:r>
              <a:rPr lang="en-IN" sz="2800" b="1" dirty="0">
                <a:solidFill>
                  <a:schemeClr val="tx1"/>
                </a:solidFill>
              </a:rPr>
              <a:t>                                Front-end   :    React-</a:t>
            </a:r>
            <a:r>
              <a:rPr lang="en-IN" sz="2800" b="1" dirty="0" err="1">
                <a:solidFill>
                  <a:schemeClr val="tx1"/>
                </a:solidFill>
              </a:rPr>
              <a:t>js</a:t>
            </a:r>
            <a:r>
              <a:rPr lang="en-IN" sz="2800" b="1" dirty="0">
                <a:solidFill>
                  <a:schemeClr val="tx1"/>
                </a:solidFill>
              </a:rPr>
              <a:t> + Html +</a:t>
            </a:r>
            <a:r>
              <a:rPr lang="en-IN" sz="2800" b="1" dirty="0" err="1">
                <a:solidFill>
                  <a:schemeClr val="tx1"/>
                </a:solidFill>
              </a:rPr>
              <a:t>Css</a:t>
            </a:r>
            <a:endParaRPr lang="en-IN" sz="2800" b="1" dirty="0">
              <a:solidFill>
                <a:schemeClr val="tx1"/>
              </a:solidFill>
            </a:endParaRPr>
          </a:p>
          <a:p>
            <a:pPr marL="45720" indent="0">
              <a:buNone/>
            </a:pPr>
            <a:r>
              <a:rPr lang="en-IN" sz="2800" b="1" dirty="0">
                <a:solidFill>
                  <a:schemeClr val="tx1"/>
                </a:solidFill>
              </a:rPr>
              <a:t>                               Back-end     :   Node.js +Express +</a:t>
            </a:r>
            <a:r>
              <a:rPr lang="en-IN" sz="2800" b="1" dirty="0" err="1">
                <a:solidFill>
                  <a:schemeClr val="tx1"/>
                </a:solidFill>
              </a:rPr>
              <a:t>Sequelize</a:t>
            </a:r>
            <a:endParaRPr lang="en-IN" sz="2800" b="1" dirty="0">
              <a:solidFill>
                <a:schemeClr val="tx1"/>
              </a:solidFill>
            </a:endParaRPr>
          </a:p>
          <a:p>
            <a:pPr marL="45720" indent="0">
              <a:buNone/>
            </a:pPr>
            <a:r>
              <a:rPr lang="en-IN" sz="2800" b="1" dirty="0">
                <a:solidFill>
                  <a:schemeClr val="tx1"/>
                </a:solidFill>
              </a:rPr>
              <a:t>                               Data Base    :  My SQL</a:t>
            </a:r>
          </a:p>
        </p:txBody>
      </p:sp>
    </p:spTree>
    <p:extLst>
      <p:ext uri="{BB962C8B-B14F-4D97-AF65-F5344CB8AC3E}">
        <p14:creationId xmlns:p14="http://schemas.microsoft.com/office/powerpoint/2010/main" val="2235572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67ACC-A08D-5B22-2CED-C92A9E205DD1}"/>
              </a:ext>
            </a:extLst>
          </p:cNvPr>
          <p:cNvSpPr>
            <a:spLocks noGrp="1"/>
          </p:cNvSpPr>
          <p:nvPr>
            <p:ph type="title"/>
          </p:nvPr>
        </p:nvSpPr>
        <p:spPr>
          <a:xfrm>
            <a:off x="648929" y="393290"/>
            <a:ext cx="10369591" cy="737420"/>
          </a:xfrm>
        </p:spPr>
        <p:txBody>
          <a:bodyPr>
            <a:normAutofit/>
          </a:bodyPr>
          <a:lstStyle/>
          <a:p>
            <a:r>
              <a:rPr lang="en-IN" dirty="0" err="1"/>
              <a:t>DashBoard</a:t>
            </a:r>
            <a:r>
              <a:rPr lang="en-IN" dirty="0"/>
              <a:t>:</a:t>
            </a:r>
          </a:p>
        </p:txBody>
      </p:sp>
      <p:sp>
        <p:nvSpPr>
          <p:cNvPr id="3" name="Content Placeholder 2">
            <a:extLst>
              <a:ext uri="{FF2B5EF4-FFF2-40B4-BE49-F238E27FC236}">
                <a16:creationId xmlns:a16="http://schemas.microsoft.com/office/drawing/2014/main" id="{17E8CE01-EF64-D6F4-C41C-62ED9CFA3068}"/>
              </a:ext>
            </a:extLst>
          </p:cNvPr>
          <p:cNvSpPr>
            <a:spLocks noGrp="1"/>
          </p:cNvSpPr>
          <p:nvPr>
            <p:ph idx="1"/>
          </p:nvPr>
        </p:nvSpPr>
        <p:spPr>
          <a:xfrm>
            <a:off x="363794" y="1130710"/>
            <a:ext cx="11474245" cy="5466735"/>
          </a:xfrm>
        </p:spPr>
        <p:txBody>
          <a:bodyPr/>
          <a:lstStyle/>
          <a:p>
            <a:pPr marL="45720" indent="0">
              <a:buNone/>
            </a:pPr>
            <a:endParaRPr lang="en-IN" dirty="0"/>
          </a:p>
          <a:p>
            <a:pPr marL="45720" indent="0">
              <a:buNone/>
            </a:pPr>
            <a:r>
              <a:rPr lang="en-IN" dirty="0"/>
              <a:t>                        Home      </a:t>
            </a:r>
            <a:r>
              <a:rPr lang="en-IN" dirty="0" err="1"/>
              <a:t>GateIN</a:t>
            </a:r>
            <a:r>
              <a:rPr lang="en-IN" dirty="0"/>
              <a:t>       Storage Area       Orders       Tracking        Wastage </a:t>
            </a:r>
          </a:p>
          <a:p>
            <a:pPr marL="45720" indent="0">
              <a:buNone/>
            </a:pPr>
            <a:r>
              <a:rPr lang="en-IN" dirty="0"/>
              <a:t>               </a:t>
            </a:r>
          </a:p>
          <a:p>
            <a:pPr marL="45720" indent="0">
              <a:buNone/>
            </a:pPr>
            <a:endParaRPr lang="en-IN" dirty="0"/>
          </a:p>
          <a:p>
            <a:pPr marL="45720" indent="0">
              <a:buNone/>
            </a:pPr>
            <a:endParaRPr lang="en-IN" dirty="0"/>
          </a:p>
          <a:p>
            <a:pPr marL="45720" indent="0">
              <a:buNone/>
            </a:pPr>
            <a:endParaRPr lang="en-IN" dirty="0"/>
          </a:p>
          <a:p>
            <a:pPr marL="45720" indent="0">
              <a:buNone/>
            </a:pPr>
            <a:endParaRPr lang="en-IN" dirty="0"/>
          </a:p>
          <a:p>
            <a:pPr marL="45720" indent="0">
              <a:buNone/>
            </a:pPr>
            <a:endParaRPr lang="en-IN" dirty="0"/>
          </a:p>
        </p:txBody>
      </p:sp>
      <p:sp>
        <p:nvSpPr>
          <p:cNvPr id="6" name="Rectangle 5">
            <a:extLst>
              <a:ext uri="{FF2B5EF4-FFF2-40B4-BE49-F238E27FC236}">
                <a16:creationId xmlns:a16="http://schemas.microsoft.com/office/drawing/2014/main" id="{F81CE011-19E7-4F0C-C31C-B4F682E9BD06}"/>
              </a:ext>
            </a:extLst>
          </p:cNvPr>
          <p:cNvSpPr/>
          <p:nvPr/>
        </p:nvSpPr>
        <p:spPr>
          <a:xfrm>
            <a:off x="1435510" y="2320413"/>
            <a:ext cx="1386348" cy="110858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IN" dirty="0"/>
              <a:t>Total Products</a:t>
            </a:r>
          </a:p>
        </p:txBody>
      </p:sp>
      <p:sp>
        <p:nvSpPr>
          <p:cNvPr id="8" name="Rectangle 7">
            <a:extLst>
              <a:ext uri="{FF2B5EF4-FFF2-40B4-BE49-F238E27FC236}">
                <a16:creationId xmlns:a16="http://schemas.microsoft.com/office/drawing/2014/main" id="{0E8BAD64-B014-F800-C96A-B920A0DAB353}"/>
              </a:ext>
            </a:extLst>
          </p:cNvPr>
          <p:cNvSpPr/>
          <p:nvPr/>
        </p:nvSpPr>
        <p:spPr>
          <a:xfrm>
            <a:off x="3588774" y="2320413"/>
            <a:ext cx="1386348" cy="110858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IN" dirty="0" err="1"/>
              <a:t>INStock</a:t>
            </a:r>
            <a:endParaRPr lang="en-IN" dirty="0"/>
          </a:p>
        </p:txBody>
      </p:sp>
      <p:sp>
        <p:nvSpPr>
          <p:cNvPr id="9" name="Rectangle 8">
            <a:extLst>
              <a:ext uri="{FF2B5EF4-FFF2-40B4-BE49-F238E27FC236}">
                <a16:creationId xmlns:a16="http://schemas.microsoft.com/office/drawing/2014/main" id="{4E5D4DFF-2D5F-6BB1-2B0B-892C5A846B30}"/>
              </a:ext>
            </a:extLst>
          </p:cNvPr>
          <p:cNvSpPr/>
          <p:nvPr/>
        </p:nvSpPr>
        <p:spPr>
          <a:xfrm>
            <a:off x="5673213" y="2320413"/>
            <a:ext cx="1543667" cy="110858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dirty="0"/>
          </a:p>
          <a:p>
            <a:pPr algn="ctr"/>
            <a:r>
              <a:rPr lang="en-IN" dirty="0"/>
              <a:t>Out Stock</a:t>
            </a:r>
          </a:p>
          <a:p>
            <a:pPr algn="ctr"/>
            <a:endParaRPr lang="en-IN" dirty="0"/>
          </a:p>
        </p:txBody>
      </p:sp>
      <p:sp>
        <p:nvSpPr>
          <p:cNvPr id="10" name="Rectangle 9">
            <a:extLst>
              <a:ext uri="{FF2B5EF4-FFF2-40B4-BE49-F238E27FC236}">
                <a16:creationId xmlns:a16="http://schemas.microsoft.com/office/drawing/2014/main" id="{FC938F12-F96A-8746-2C01-AA6411AF480B}"/>
              </a:ext>
            </a:extLst>
          </p:cNvPr>
          <p:cNvSpPr/>
          <p:nvPr/>
        </p:nvSpPr>
        <p:spPr>
          <a:xfrm>
            <a:off x="7964129" y="2320414"/>
            <a:ext cx="2025445" cy="110858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IN" dirty="0"/>
              <a:t>Orders</a:t>
            </a:r>
          </a:p>
        </p:txBody>
      </p:sp>
      <p:sp>
        <p:nvSpPr>
          <p:cNvPr id="11" name="Rectangle 10">
            <a:extLst>
              <a:ext uri="{FF2B5EF4-FFF2-40B4-BE49-F238E27FC236}">
                <a16:creationId xmlns:a16="http://schemas.microsoft.com/office/drawing/2014/main" id="{B0F8EABE-FE26-7CF5-E06B-557964A2E61B}"/>
              </a:ext>
            </a:extLst>
          </p:cNvPr>
          <p:cNvSpPr/>
          <p:nvPr/>
        </p:nvSpPr>
        <p:spPr>
          <a:xfrm>
            <a:off x="363794" y="3864077"/>
            <a:ext cx="11474244" cy="2630129"/>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IN" sz="3200" dirty="0"/>
              <a:t>Display the all Products</a:t>
            </a:r>
          </a:p>
        </p:txBody>
      </p:sp>
      <p:sp>
        <p:nvSpPr>
          <p:cNvPr id="12" name="Rectangle: Rounded Corners 11">
            <a:extLst>
              <a:ext uri="{FF2B5EF4-FFF2-40B4-BE49-F238E27FC236}">
                <a16:creationId xmlns:a16="http://schemas.microsoft.com/office/drawing/2014/main" id="{384413EE-4FAA-A535-2FCC-FB0E2E224D57}"/>
              </a:ext>
            </a:extLst>
          </p:cNvPr>
          <p:cNvSpPr/>
          <p:nvPr/>
        </p:nvSpPr>
        <p:spPr>
          <a:xfrm>
            <a:off x="9291484" y="4168877"/>
            <a:ext cx="1727036" cy="44982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 Add Product</a:t>
            </a:r>
          </a:p>
        </p:txBody>
      </p:sp>
    </p:spTree>
    <p:extLst>
      <p:ext uri="{BB962C8B-B14F-4D97-AF65-F5344CB8AC3E}">
        <p14:creationId xmlns:p14="http://schemas.microsoft.com/office/powerpoint/2010/main" val="3417770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6BA4C-7D22-0D2D-1BED-811D899A09CD}"/>
              </a:ext>
            </a:extLst>
          </p:cNvPr>
          <p:cNvSpPr>
            <a:spLocks noGrp="1"/>
          </p:cNvSpPr>
          <p:nvPr>
            <p:ph type="title"/>
          </p:nvPr>
        </p:nvSpPr>
        <p:spPr>
          <a:xfrm>
            <a:off x="422787" y="393290"/>
            <a:ext cx="11297265" cy="717755"/>
          </a:xfrm>
        </p:spPr>
        <p:txBody>
          <a:bodyPr/>
          <a:lstStyle/>
          <a:p>
            <a:r>
              <a:rPr lang="en-IN" dirty="0"/>
              <a:t>Tables:</a:t>
            </a:r>
          </a:p>
        </p:txBody>
      </p:sp>
      <p:sp>
        <p:nvSpPr>
          <p:cNvPr id="3" name="Content Placeholder 2">
            <a:extLst>
              <a:ext uri="{FF2B5EF4-FFF2-40B4-BE49-F238E27FC236}">
                <a16:creationId xmlns:a16="http://schemas.microsoft.com/office/drawing/2014/main" id="{EDD75771-9BF5-3612-848E-061DF0F1E93F}"/>
              </a:ext>
            </a:extLst>
          </p:cNvPr>
          <p:cNvSpPr>
            <a:spLocks noGrp="1"/>
          </p:cNvSpPr>
          <p:nvPr>
            <p:ph idx="1"/>
          </p:nvPr>
        </p:nvSpPr>
        <p:spPr>
          <a:xfrm>
            <a:off x="422788" y="1229032"/>
            <a:ext cx="11297264" cy="5319252"/>
          </a:xfrm>
        </p:spPr>
        <p:txBody>
          <a:bodyPr>
            <a:normAutofit lnSpcReduction="10000"/>
          </a:bodyPr>
          <a:lstStyle/>
          <a:p>
            <a:r>
              <a:rPr lang="en-IN" b="1" dirty="0">
                <a:solidFill>
                  <a:schemeClr val="tx1"/>
                </a:solidFill>
              </a:rPr>
              <a:t>Products:</a:t>
            </a:r>
          </a:p>
          <a:p>
            <a:endParaRPr lang="en-IN" b="1" dirty="0">
              <a:solidFill>
                <a:schemeClr val="tx1"/>
              </a:solidFill>
            </a:endParaRPr>
          </a:p>
          <a:p>
            <a:endParaRPr lang="en-IN" b="1" dirty="0">
              <a:solidFill>
                <a:schemeClr val="tx1"/>
              </a:solidFill>
            </a:endParaRPr>
          </a:p>
          <a:p>
            <a:r>
              <a:rPr lang="en-IN" b="1" dirty="0" err="1">
                <a:solidFill>
                  <a:schemeClr val="tx1"/>
                </a:solidFill>
              </a:rPr>
              <a:t>GateIN</a:t>
            </a:r>
            <a:r>
              <a:rPr lang="en-IN" b="1" dirty="0">
                <a:solidFill>
                  <a:schemeClr val="tx1"/>
                </a:solidFill>
              </a:rPr>
              <a:t>:</a:t>
            </a:r>
          </a:p>
          <a:p>
            <a:endParaRPr lang="en-IN" b="1" dirty="0">
              <a:solidFill>
                <a:schemeClr val="tx1"/>
              </a:solidFill>
            </a:endParaRPr>
          </a:p>
          <a:p>
            <a:endParaRPr lang="en-IN" b="1" dirty="0">
              <a:solidFill>
                <a:schemeClr val="tx1"/>
              </a:solidFill>
            </a:endParaRPr>
          </a:p>
          <a:p>
            <a:endParaRPr lang="en-IN" b="1" dirty="0">
              <a:solidFill>
                <a:schemeClr val="tx1"/>
              </a:solidFill>
            </a:endParaRPr>
          </a:p>
          <a:p>
            <a:pPr marL="45720" indent="0">
              <a:buNone/>
            </a:pPr>
            <a:r>
              <a:rPr lang="en-IN" b="1" dirty="0">
                <a:solidFill>
                  <a:schemeClr val="tx1"/>
                </a:solidFill>
              </a:rPr>
              <a:t>Storage Area:</a:t>
            </a:r>
          </a:p>
          <a:p>
            <a:endParaRPr lang="en-IN" b="1" dirty="0">
              <a:solidFill>
                <a:schemeClr val="tx1"/>
              </a:solidFill>
            </a:endParaRPr>
          </a:p>
          <a:p>
            <a:endParaRPr lang="en-IN" b="1" dirty="0">
              <a:solidFill>
                <a:schemeClr val="tx1"/>
              </a:solidFill>
            </a:endParaRPr>
          </a:p>
          <a:p>
            <a:pPr marL="45720" indent="0">
              <a:buNone/>
            </a:pPr>
            <a:endParaRPr lang="en-IN" b="1" dirty="0">
              <a:solidFill>
                <a:schemeClr val="tx1"/>
              </a:solidFill>
            </a:endParaRPr>
          </a:p>
          <a:p>
            <a:pPr marL="45720" indent="0">
              <a:buNone/>
            </a:pPr>
            <a:r>
              <a:rPr lang="en-IN" b="1" dirty="0">
                <a:solidFill>
                  <a:schemeClr val="tx1"/>
                </a:solidFill>
              </a:rPr>
              <a:t>    </a:t>
            </a:r>
          </a:p>
        </p:txBody>
      </p:sp>
      <p:graphicFrame>
        <p:nvGraphicFramePr>
          <p:cNvPr id="4" name="Table 3">
            <a:extLst>
              <a:ext uri="{FF2B5EF4-FFF2-40B4-BE49-F238E27FC236}">
                <a16:creationId xmlns:a16="http://schemas.microsoft.com/office/drawing/2014/main" id="{9C1AB2ED-09D3-5902-45B5-AB970BB57B81}"/>
              </a:ext>
            </a:extLst>
          </p:cNvPr>
          <p:cNvGraphicFramePr>
            <a:graphicFrameLocks noGrp="1"/>
          </p:cNvGraphicFramePr>
          <p:nvPr>
            <p:extLst>
              <p:ext uri="{D42A27DB-BD31-4B8C-83A1-F6EECF244321}">
                <p14:modId xmlns:p14="http://schemas.microsoft.com/office/powerpoint/2010/main" val="1399785932"/>
              </p:ext>
            </p:extLst>
          </p:nvPr>
        </p:nvGraphicFramePr>
        <p:xfrm>
          <a:off x="707924" y="1666567"/>
          <a:ext cx="9566787" cy="741680"/>
        </p:xfrm>
        <a:graphic>
          <a:graphicData uri="http://schemas.openxmlformats.org/drawingml/2006/table">
            <a:tbl>
              <a:tblPr firstRow="1" bandRow="1">
                <a:tableStyleId>{5C22544A-7EE6-4342-B048-85BDC9FD1C3A}</a:tableStyleId>
              </a:tblPr>
              <a:tblGrid>
                <a:gridCol w="963022">
                  <a:extLst>
                    <a:ext uri="{9D8B030D-6E8A-4147-A177-3AD203B41FA5}">
                      <a16:colId xmlns:a16="http://schemas.microsoft.com/office/drawing/2014/main" val="3377802412"/>
                    </a:ext>
                  </a:extLst>
                </a:gridCol>
                <a:gridCol w="1770345">
                  <a:extLst>
                    <a:ext uri="{9D8B030D-6E8A-4147-A177-3AD203B41FA5}">
                      <a16:colId xmlns:a16="http://schemas.microsoft.com/office/drawing/2014/main" val="3657180481"/>
                    </a:ext>
                  </a:extLst>
                </a:gridCol>
                <a:gridCol w="1366684">
                  <a:extLst>
                    <a:ext uri="{9D8B030D-6E8A-4147-A177-3AD203B41FA5}">
                      <a16:colId xmlns:a16="http://schemas.microsoft.com/office/drawing/2014/main" val="2762118001"/>
                    </a:ext>
                  </a:extLst>
                </a:gridCol>
                <a:gridCol w="1366684">
                  <a:extLst>
                    <a:ext uri="{9D8B030D-6E8A-4147-A177-3AD203B41FA5}">
                      <a16:colId xmlns:a16="http://schemas.microsoft.com/office/drawing/2014/main" val="2200522588"/>
                    </a:ext>
                  </a:extLst>
                </a:gridCol>
                <a:gridCol w="1366684">
                  <a:extLst>
                    <a:ext uri="{9D8B030D-6E8A-4147-A177-3AD203B41FA5}">
                      <a16:colId xmlns:a16="http://schemas.microsoft.com/office/drawing/2014/main" val="3891164342"/>
                    </a:ext>
                  </a:extLst>
                </a:gridCol>
                <a:gridCol w="1366684">
                  <a:extLst>
                    <a:ext uri="{9D8B030D-6E8A-4147-A177-3AD203B41FA5}">
                      <a16:colId xmlns:a16="http://schemas.microsoft.com/office/drawing/2014/main" val="2349233130"/>
                    </a:ext>
                  </a:extLst>
                </a:gridCol>
                <a:gridCol w="1366684">
                  <a:extLst>
                    <a:ext uri="{9D8B030D-6E8A-4147-A177-3AD203B41FA5}">
                      <a16:colId xmlns:a16="http://schemas.microsoft.com/office/drawing/2014/main" val="800786153"/>
                    </a:ext>
                  </a:extLst>
                </a:gridCol>
              </a:tblGrid>
              <a:tr h="370840">
                <a:tc>
                  <a:txBody>
                    <a:bodyPr/>
                    <a:lstStyle/>
                    <a:p>
                      <a:r>
                        <a:rPr lang="en-IN" dirty="0"/>
                        <a:t>  Id </a:t>
                      </a:r>
                    </a:p>
                  </a:txBody>
                  <a:tcPr/>
                </a:tc>
                <a:tc>
                  <a:txBody>
                    <a:bodyPr/>
                    <a:lstStyle/>
                    <a:p>
                      <a:r>
                        <a:rPr lang="en-IN" dirty="0"/>
                        <a:t>Product Name</a:t>
                      </a:r>
                    </a:p>
                  </a:txBody>
                  <a:tcPr/>
                </a:tc>
                <a:tc>
                  <a:txBody>
                    <a:bodyPr/>
                    <a:lstStyle/>
                    <a:p>
                      <a:r>
                        <a:rPr lang="en-IN" dirty="0"/>
                        <a:t>Quantity</a:t>
                      </a:r>
                    </a:p>
                  </a:txBody>
                  <a:tcPr/>
                </a:tc>
                <a:tc>
                  <a:txBody>
                    <a:bodyPr/>
                    <a:lstStyle/>
                    <a:p>
                      <a:r>
                        <a:rPr lang="en-IN" dirty="0"/>
                        <a:t> </a:t>
                      </a:r>
                      <a:r>
                        <a:rPr lang="en-IN" dirty="0" err="1"/>
                        <a:t>OPrice</a:t>
                      </a:r>
                      <a:endParaRPr lang="en-IN" dirty="0"/>
                    </a:p>
                  </a:txBody>
                  <a:tcPr/>
                </a:tc>
                <a:tc>
                  <a:txBody>
                    <a:bodyPr/>
                    <a:lstStyle/>
                    <a:p>
                      <a:r>
                        <a:rPr lang="en-IN" dirty="0" err="1"/>
                        <a:t>SPrice</a:t>
                      </a:r>
                      <a:endParaRPr lang="en-IN" dirty="0"/>
                    </a:p>
                  </a:txBody>
                  <a:tcPr/>
                </a:tc>
                <a:tc>
                  <a:txBody>
                    <a:bodyPr/>
                    <a:lstStyle/>
                    <a:p>
                      <a:r>
                        <a:rPr lang="en-IN" dirty="0"/>
                        <a:t>Date</a:t>
                      </a:r>
                    </a:p>
                  </a:txBody>
                  <a:tcPr/>
                </a:tc>
                <a:tc>
                  <a:txBody>
                    <a:bodyPr/>
                    <a:lstStyle/>
                    <a:p>
                      <a:r>
                        <a:rPr lang="en-IN" dirty="0"/>
                        <a:t>Locati0on</a:t>
                      </a:r>
                    </a:p>
                  </a:txBody>
                  <a:tcPr/>
                </a:tc>
                <a:extLst>
                  <a:ext uri="{0D108BD9-81ED-4DB2-BD59-A6C34878D82A}">
                    <a16:rowId xmlns:a16="http://schemas.microsoft.com/office/drawing/2014/main" val="1512543932"/>
                  </a:ext>
                </a:extLst>
              </a:tr>
              <a:tr h="370840">
                <a:tc>
                  <a:txBody>
                    <a:bodyPr/>
                    <a:lstStyle/>
                    <a:p>
                      <a:endParaRPr lang="en-IN"/>
                    </a:p>
                  </a:txBody>
                  <a:tcPr/>
                </a:tc>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r>
                        <a:rPr lang="en-IN" dirty="0"/>
                        <a:t>Allocate</a:t>
                      </a:r>
                    </a:p>
                  </a:txBody>
                  <a:tcPr/>
                </a:tc>
                <a:extLst>
                  <a:ext uri="{0D108BD9-81ED-4DB2-BD59-A6C34878D82A}">
                    <a16:rowId xmlns:a16="http://schemas.microsoft.com/office/drawing/2014/main" val="3759254913"/>
                  </a:ext>
                </a:extLst>
              </a:tr>
            </a:tbl>
          </a:graphicData>
        </a:graphic>
      </p:graphicFrame>
      <p:graphicFrame>
        <p:nvGraphicFramePr>
          <p:cNvPr id="5" name="Table 4">
            <a:extLst>
              <a:ext uri="{FF2B5EF4-FFF2-40B4-BE49-F238E27FC236}">
                <a16:creationId xmlns:a16="http://schemas.microsoft.com/office/drawing/2014/main" id="{53050933-E426-BFCB-340A-F18F943F513A}"/>
              </a:ext>
            </a:extLst>
          </p:cNvPr>
          <p:cNvGraphicFramePr>
            <a:graphicFrameLocks noGrp="1"/>
          </p:cNvGraphicFramePr>
          <p:nvPr>
            <p:extLst>
              <p:ext uri="{D42A27DB-BD31-4B8C-83A1-F6EECF244321}">
                <p14:modId xmlns:p14="http://schemas.microsoft.com/office/powerpoint/2010/main" val="3763873232"/>
              </p:ext>
            </p:extLst>
          </p:nvPr>
        </p:nvGraphicFramePr>
        <p:xfrm>
          <a:off x="727587" y="3217060"/>
          <a:ext cx="9547126" cy="741680"/>
        </p:xfrm>
        <a:graphic>
          <a:graphicData uri="http://schemas.openxmlformats.org/drawingml/2006/table">
            <a:tbl>
              <a:tblPr firstRow="1" bandRow="1">
                <a:tableStyleId>{5C22544A-7EE6-4342-B048-85BDC9FD1C3A}</a:tableStyleId>
              </a:tblPr>
              <a:tblGrid>
                <a:gridCol w="639097">
                  <a:extLst>
                    <a:ext uri="{9D8B030D-6E8A-4147-A177-3AD203B41FA5}">
                      <a16:colId xmlns:a16="http://schemas.microsoft.com/office/drawing/2014/main" val="2039636857"/>
                    </a:ext>
                  </a:extLst>
                </a:gridCol>
                <a:gridCol w="1651819">
                  <a:extLst>
                    <a:ext uri="{9D8B030D-6E8A-4147-A177-3AD203B41FA5}">
                      <a16:colId xmlns:a16="http://schemas.microsoft.com/office/drawing/2014/main" val="4078183575"/>
                    </a:ext>
                  </a:extLst>
                </a:gridCol>
                <a:gridCol w="1327355">
                  <a:extLst>
                    <a:ext uri="{9D8B030D-6E8A-4147-A177-3AD203B41FA5}">
                      <a16:colId xmlns:a16="http://schemas.microsoft.com/office/drawing/2014/main" val="2161283965"/>
                    </a:ext>
                  </a:extLst>
                </a:gridCol>
                <a:gridCol w="1524000">
                  <a:extLst>
                    <a:ext uri="{9D8B030D-6E8A-4147-A177-3AD203B41FA5}">
                      <a16:colId xmlns:a16="http://schemas.microsoft.com/office/drawing/2014/main" val="503207835"/>
                    </a:ext>
                  </a:extLst>
                </a:gridCol>
                <a:gridCol w="1709879">
                  <a:extLst>
                    <a:ext uri="{9D8B030D-6E8A-4147-A177-3AD203B41FA5}">
                      <a16:colId xmlns:a16="http://schemas.microsoft.com/office/drawing/2014/main" val="4179319116"/>
                    </a:ext>
                  </a:extLst>
                </a:gridCol>
                <a:gridCol w="1347488">
                  <a:extLst>
                    <a:ext uri="{9D8B030D-6E8A-4147-A177-3AD203B41FA5}">
                      <a16:colId xmlns:a16="http://schemas.microsoft.com/office/drawing/2014/main" val="1163629465"/>
                    </a:ext>
                  </a:extLst>
                </a:gridCol>
                <a:gridCol w="1347488">
                  <a:extLst>
                    <a:ext uri="{9D8B030D-6E8A-4147-A177-3AD203B41FA5}">
                      <a16:colId xmlns:a16="http://schemas.microsoft.com/office/drawing/2014/main" val="2222748741"/>
                    </a:ext>
                  </a:extLst>
                </a:gridCol>
              </a:tblGrid>
              <a:tr h="370840">
                <a:tc>
                  <a:txBody>
                    <a:bodyPr/>
                    <a:lstStyle/>
                    <a:p>
                      <a:r>
                        <a:rPr lang="en-IN" dirty="0"/>
                        <a:t>   id</a:t>
                      </a:r>
                    </a:p>
                  </a:txBody>
                  <a:tcPr/>
                </a:tc>
                <a:tc>
                  <a:txBody>
                    <a:bodyPr/>
                    <a:lstStyle/>
                    <a:p>
                      <a:r>
                        <a:rPr lang="en-IN" dirty="0"/>
                        <a:t>In Time &amp; Date</a:t>
                      </a:r>
                    </a:p>
                  </a:txBody>
                  <a:tcPr/>
                </a:tc>
                <a:tc>
                  <a:txBody>
                    <a:bodyPr/>
                    <a:lstStyle/>
                    <a:p>
                      <a:r>
                        <a:rPr lang="en-IN" dirty="0"/>
                        <a:t>vehicle No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Driver Name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Product Name</a:t>
                      </a:r>
                    </a:p>
                  </a:txBody>
                  <a:tcPr/>
                </a:tc>
                <a:tc>
                  <a:txBody>
                    <a:bodyPr/>
                    <a:lstStyle/>
                    <a:p>
                      <a:r>
                        <a:rPr lang="en-IN" dirty="0"/>
                        <a:t>Quantity</a:t>
                      </a:r>
                    </a:p>
                  </a:txBody>
                  <a:tcPr/>
                </a:tc>
                <a:tc>
                  <a:txBody>
                    <a:bodyPr/>
                    <a:lstStyle/>
                    <a:p>
                      <a:endParaRPr lang="en-IN" dirty="0"/>
                    </a:p>
                  </a:txBody>
                  <a:tcPr/>
                </a:tc>
                <a:extLst>
                  <a:ext uri="{0D108BD9-81ED-4DB2-BD59-A6C34878D82A}">
                    <a16:rowId xmlns:a16="http://schemas.microsoft.com/office/drawing/2014/main" val="4257031802"/>
                  </a:ext>
                </a:extLst>
              </a:tr>
              <a:tr h="37084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820445624"/>
                  </a:ext>
                </a:extLst>
              </a:tr>
            </a:tbl>
          </a:graphicData>
        </a:graphic>
      </p:graphicFrame>
      <p:graphicFrame>
        <p:nvGraphicFramePr>
          <p:cNvPr id="6" name="Table 5">
            <a:extLst>
              <a:ext uri="{FF2B5EF4-FFF2-40B4-BE49-F238E27FC236}">
                <a16:creationId xmlns:a16="http://schemas.microsoft.com/office/drawing/2014/main" id="{1FEAD7C8-F492-7840-FEF0-B517F3F33BDF}"/>
              </a:ext>
            </a:extLst>
          </p:cNvPr>
          <p:cNvGraphicFramePr>
            <a:graphicFrameLocks noGrp="1"/>
          </p:cNvGraphicFramePr>
          <p:nvPr>
            <p:extLst>
              <p:ext uri="{D42A27DB-BD31-4B8C-83A1-F6EECF244321}">
                <p14:modId xmlns:p14="http://schemas.microsoft.com/office/powerpoint/2010/main" val="3778833743"/>
              </p:ext>
            </p:extLst>
          </p:nvPr>
        </p:nvGraphicFramePr>
        <p:xfrm>
          <a:off x="1427317" y="4957370"/>
          <a:ext cx="8127999" cy="74168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1224387527"/>
                    </a:ext>
                  </a:extLst>
                </a:gridCol>
                <a:gridCol w="2709333">
                  <a:extLst>
                    <a:ext uri="{9D8B030D-6E8A-4147-A177-3AD203B41FA5}">
                      <a16:colId xmlns:a16="http://schemas.microsoft.com/office/drawing/2014/main" val="1950035342"/>
                    </a:ext>
                  </a:extLst>
                </a:gridCol>
                <a:gridCol w="2709333">
                  <a:extLst>
                    <a:ext uri="{9D8B030D-6E8A-4147-A177-3AD203B41FA5}">
                      <a16:colId xmlns:a16="http://schemas.microsoft.com/office/drawing/2014/main" val="3786761071"/>
                    </a:ext>
                  </a:extLst>
                </a:gridCol>
              </a:tblGrid>
              <a:tr h="370840">
                <a:tc>
                  <a:txBody>
                    <a:bodyPr/>
                    <a:lstStyle/>
                    <a:p>
                      <a:r>
                        <a:rPr lang="en-IN" dirty="0"/>
                        <a:t>    Storage Name</a:t>
                      </a:r>
                    </a:p>
                  </a:txBody>
                  <a:tcPr/>
                </a:tc>
                <a:tc>
                  <a:txBody>
                    <a:bodyPr/>
                    <a:lstStyle/>
                    <a:p>
                      <a:r>
                        <a:rPr lang="en-IN" dirty="0" err="1"/>
                        <a:t>Discription</a:t>
                      </a:r>
                      <a:endParaRPr lang="en-IN" dirty="0"/>
                    </a:p>
                  </a:txBody>
                  <a:tcPr/>
                </a:tc>
                <a:tc>
                  <a:txBody>
                    <a:bodyPr/>
                    <a:lstStyle/>
                    <a:p>
                      <a:r>
                        <a:rPr lang="en-IN" dirty="0"/>
                        <a:t>Product Name</a:t>
                      </a:r>
                    </a:p>
                  </a:txBody>
                  <a:tcPr/>
                </a:tc>
                <a:extLst>
                  <a:ext uri="{0D108BD9-81ED-4DB2-BD59-A6C34878D82A}">
                    <a16:rowId xmlns:a16="http://schemas.microsoft.com/office/drawing/2014/main" val="2389709418"/>
                  </a:ext>
                </a:extLst>
              </a:tr>
              <a:tr h="370840">
                <a:tc>
                  <a:txBody>
                    <a:bodyPr/>
                    <a:lstStyle/>
                    <a:p>
                      <a:r>
                        <a:rPr lang="en-IN" dirty="0"/>
                        <a:t>               M1</a:t>
                      </a:r>
                    </a:p>
                  </a:txBody>
                  <a:tcPr/>
                </a:tc>
                <a:tc>
                  <a:txBody>
                    <a:bodyPr/>
                    <a:lstStyle/>
                    <a:p>
                      <a:r>
                        <a:rPr lang="en-IN" dirty="0"/>
                        <a:t>Capacity/temp…</a:t>
                      </a:r>
                    </a:p>
                  </a:txBody>
                  <a:tcPr/>
                </a:tc>
                <a:tc>
                  <a:txBody>
                    <a:bodyPr/>
                    <a:lstStyle/>
                    <a:p>
                      <a:endParaRPr lang="en-IN" dirty="0"/>
                    </a:p>
                  </a:txBody>
                  <a:tcPr/>
                </a:tc>
                <a:extLst>
                  <a:ext uri="{0D108BD9-81ED-4DB2-BD59-A6C34878D82A}">
                    <a16:rowId xmlns:a16="http://schemas.microsoft.com/office/drawing/2014/main" val="68991392"/>
                  </a:ext>
                </a:extLst>
              </a:tr>
            </a:tbl>
          </a:graphicData>
        </a:graphic>
      </p:graphicFrame>
    </p:spTree>
    <p:extLst>
      <p:ext uri="{BB962C8B-B14F-4D97-AF65-F5344CB8AC3E}">
        <p14:creationId xmlns:p14="http://schemas.microsoft.com/office/powerpoint/2010/main" val="18198706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C2843-EB9A-1F01-12DA-DC4333ECD9EA}"/>
              </a:ext>
            </a:extLst>
          </p:cNvPr>
          <p:cNvSpPr>
            <a:spLocks noGrp="1"/>
          </p:cNvSpPr>
          <p:nvPr>
            <p:ph type="title"/>
          </p:nvPr>
        </p:nvSpPr>
        <p:spPr>
          <a:xfrm>
            <a:off x="393290" y="275304"/>
            <a:ext cx="11051458" cy="486696"/>
          </a:xfrm>
        </p:spPr>
        <p:txBody>
          <a:bodyPr>
            <a:normAutofit fontScale="90000"/>
          </a:bodyPr>
          <a:lstStyle/>
          <a:p>
            <a:r>
              <a:rPr lang="en-IN" dirty="0"/>
              <a:t>.</a:t>
            </a:r>
            <a:br>
              <a:rPr lang="en-IN" dirty="0"/>
            </a:br>
            <a:endParaRPr lang="en-IN" dirty="0"/>
          </a:p>
        </p:txBody>
      </p:sp>
      <p:sp>
        <p:nvSpPr>
          <p:cNvPr id="3" name="Content Placeholder 2">
            <a:extLst>
              <a:ext uri="{FF2B5EF4-FFF2-40B4-BE49-F238E27FC236}">
                <a16:creationId xmlns:a16="http://schemas.microsoft.com/office/drawing/2014/main" id="{A428E5E3-37C0-C356-1BF0-04D86A9F636F}"/>
              </a:ext>
            </a:extLst>
          </p:cNvPr>
          <p:cNvSpPr>
            <a:spLocks noGrp="1"/>
          </p:cNvSpPr>
          <p:nvPr>
            <p:ph idx="1"/>
          </p:nvPr>
        </p:nvSpPr>
        <p:spPr>
          <a:xfrm>
            <a:off x="393290" y="762001"/>
            <a:ext cx="11189110" cy="5334000"/>
          </a:xfrm>
        </p:spPr>
        <p:txBody>
          <a:bodyPr/>
          <a:lstStyle/>
          <a:p>
            <a:r>
              <a:rPr lang="en-IN" dirty="0" err="1"/>
              <a:t>Oders</a:t>
            </a:r>
            <a:r>
              <a:rPr lang="en-IN" dirty="0"/>
              <a:t>:</a:t>
            </a:r>
          </a:p>
          <a:p>
            <a:endParaRPr lang="en-IN" dirty="0"/>
          </a:p>
          <a:p>
            <a:endParaRPr lang="en-IN" dirty="0"/>
          </a:p>
          <a:p>
            <a:endParaRPr lang="en-IN" dirty="0"/>
          </a:p>
          <a:p>
            <a:r>
              <a:rPr lang="en-IN" dirty="0"/>
              <a:t>Tracking:</a:t>
            </a:r>
          </a:p>
          <a:p>
            <a:endParaRPr lang="en-IN" dirty="0"/>
          </a:p>
          <a:p>
            <a:endParaRPr lang="en-IN" dirty="0"/>
          </a:p>
          <a:p>
            <a:r>
              <a:rPr lang="en-IN" dirty="0"/>
              <a:t>Wastage</a:t>
            </a:r>
          </a:p>
          <a:p>
            <a:endParaRPr lang="en-IN" dirty="0"/>
          </a:p>
          <a:p>
            <a:pPr marL="45720" indent="0">
              <a:buNone/>
            </a:pPr>
            <a:endParaRPr lang="en-IN" dirty="0"/>
          </a:p>
        </p:txBody>
      </p:sp>
      <p:graphicFrame>
        <p:nvGraphicFramePr>
          <p:cNvPr id="4" name="Table 3">
            <a:extLst>
              <a:ext uri="{FF2B5EF4-FFF2-40B4-BE49-F238E27FC236}">
                <a16:creationId xmlns:a16="http://schemas.microsoft.com/office/drawing/2014/main" id="{064C2D0F-EF58-70FC-4FDF-D2CDF5259208}"/>
              </a:ext>
            </a:extLst>
          </p:cNvPr>
          <p:cNvGraphicFramePr>
            <a:graphicFrameLocks noGrp="1"/>
          </p:cNvGraphicFramePr>
          <p:nvPr>
            <p:extLst>
              <p:ext uri="{D42A27DB-BD31-4B8C-83A1-F6EECF244321}">
                <p14:modId xmlns:p14="http://schemas.microsoft.com/office/powerpoint/2010/main" val="3344621690"/>
              </p:ext>
            </p:extLst>
          </p:nvPr>
        </p:nvGraphicFramePr>
        <p:xfrm>
          <a:off x="698089" y="1417757"/>
          <a:ext cx="10392696" cy="1112520"/>
        </p:xfrm>
        <a:graphic>
          <a:graphicData uri="http://schemas.openxmlformats.org/drawingml/2006/table">
            <a:tbl>
              <a:tblPr firstRow="1" bandRow="1">
                <a:tableStyleId>{5C22544A-7EE6-4342-B048-85BDC9FD1C3A}</a:tableStyleId>
              </a:tblPr>
              <a:tblGrid>
                <a:gridCol w="1111046">
                  <a:extLst>
                    <a:ext uri="{9D8B030D-6E8A-4147-A177-3AD203B41FA5}">
                      <a16:colId xmlns:a16="http://schemas.microsoft.com/office/drawing/2014/main" val="3573138026"/>
                    </a:ext>
                  </a:extLst>
                </a:gridCol>
                <a:gridCol w="2353186">
                  <a:extLst>
                    <a:ext uri="{9D8B030D-6E8A-4147-A177-3AD203B41FA5}">
                      <a16:colId xmlns:a16="http://schemas.microsoft.com/office/drawing/2014/main" val="3847449795"/>
                    </a:ext>
                  </a:extLst>
                </a:gridCol>
                <a:gridCol w="1732116">
                  <a:extLst>
                    <a:ext uri="{9D8B030D-6E8A-4147-A177-3AD203B41FA5}">
                      <a16:colId xmlns:a16="http://schemas.microsoft.com/office/drawing/2014/main" val="82228674"/>
                    </a:ext>
                  </a:extLst>
                </a:gridCol>
                <a:gridCol w="1732116">
                  <a:extLst>
                    <a:ext uri="{9D8B030D-6E8A-4147-A177-3AD203B41FA5}">
                      <a16:colId xmlns:a16="http://schemas.microsoft.com/office/drawing/2014/main" val="50959877"/>
                    </a:ext>
                  </a:extLst>
                </a:gridCol>
                <a:gridCol w="1732116">
                  <a:extLst>
                    <a:ext uri="{9D8B030D-6E8A-4147-A177-3AD203B41FA5}">
                      <a16:colId xmlns:a16="http://schemas.microsoft.com/office/drawing/2014/main" val="2662530013"/>
                    </a:ext>
                  </a:extLst>
                </a:gridCol>
                <a:gridCol w="1732116">
                  <a:extLst>
                    <a:ext uri="{9D8B030D-6E8A-4147-A177-3AD203B41FA5}">
                      <a16:colId xmlns:a16="http://schemas.microsoft.com/office/drawing/2014/main" val="1711327633"/>
                    </a:ext>
                  </a:extLst>
                </a:gridCol>
              </a:tblGrid>
              <a:tr h="370840">
                <a:tc>
                  <a:txBody>
                    <a:bodyPr/>
                    <a:lstStyle/>
                    <a:p>
                      <a:r>
                        <a:rPr lang="en-IN" dirty="0"/>
                        <a:t>    Id</a:t>
                      </a:r>
                    </a:p>
                  </a:txBody>
                  <a:tcPr/>
                </a:tc>
                <a:tc>
                  <a:txBody>
                    <a:bodyPr/>
                    <a:lstStyle/>
                    <a:p>
                      <a:r>
                        <a:rPr lang="en-IN" dirty="0"/>
                        <a:t>Product Name</a:t>
                      </a:r>
                    </a:p>
                  </a:txBody>
                  <a:tcPr/>
                </a:tc>
                <a:tc>
                  <a:txBody>
                    <a:bodyPr/>
                    <a:lstStyle/>
                    <a:p>
                      <a:r>
                        <a:rPr lang="en-IN" dirty="0" err="1"/>
                        <a:t>Sprice</a:t>
                      </a:r>
                      <a:endParaRPr lang="en-IN" dirty="0"/>
                    </a:p>
                  </a:txBody>
                  <a:tcPr/>
                </a:tc>
                <a:tc>
                  <a:txBody>
                    <a:bodyPr/>
                    <a:lstStyle/>
                    <a:p>
                      <a:r>
                        <a:rPr lang="en-IN" dirty="0"/>
                        <a:t>Quantity</a:t>
                      </a:r>
                    </a:p>
                  </a:txBody>
                  <a:tcPr/>
                </a:tc>
                <a:tc>
                  <a:txBody>
                    <a:bodyPr/>
                    <a:lstStyle/>
                    <a:p>
                      <a:r>
                        <a:rPr lang="en-IN" dirty="0"/>
                        <a:t>Address</a:t>
                      </a:r>
                    </a:p>
                  </a:txBody>
                  <a:tcPr/>
                </a:tc>
                <a:tc>
                  <a:txBody>
                    <a:bodyPr/>
                    <a:lstStyle/>
                    <a:p>
                      <a:r>
                        <a:rPr lang="en-IN" dirty="0"/>
                        <a:t>Status</a:t>
                      </a:r>
                    </a:p>
                  </a:txBody>
                  <a:tcPr/>
                </a:tc>
                <a:extLst>
                  <a:ext uri="{0D108BD9-81ED-4DB2-BD59-A6C34878D82A}">
                    <a16:rowId xmlns:a16="http://schemas.microsoft.com/office/drawing/2014/main" val="1179444721"/>
                  </a:ext>
                </a:extLst>
              </a:tr>
              <a:tr h="370840">
                <a:tc>
                  <a:txBody>
                    <a:bodyPr/>
                    <a:lstStyle/>
                    <a:p>
                      <a:endParaRPr lang="en-IN" dirty="0"/>
                    </a:p>
                  </a:txBody>
                  <a:tcPr/>
                </a:tc>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87980197"/>
                  </a:ext>
                </a:extLst>
              </a:tr>
              <a:tr h="37084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1519383206"/>
                  </a:ext>
                </a:extLst>
              </a:tr>
            </a:tbl>
          </a:graphicData>
        </a:graphic>
      </p:graphicFrame>
      <p:graphicFrame>
        <p:nvGraphicFramePr>
          <p:cNvPr id="5" name="Table 4">
            <a:extLst>
              <a:ext uri="{FF2B5EF4-FFF2-40B4-BE49-F238E27FC236}">
                <a16:creationId xmlns:a16="http://schemas.microsoft.com/office/drawing/2014/main" id="{411B49C1-CFFE-E183-7E76-E60C1A9D9AEE}"/>
              </a:ext>
            </a:extLst>
          </p:cNvPr>
          <p:cNvGraphicFramePr>
            <a:graphicFrameLocks noGrp="1"/>
          </p:cNvGraphicFramePr>
          <p:nvPr>
            <p:extLst>
              <p:ext uri="{D42A27DB-BD31-4B8C-83A1-F6EECF244321}">
                <p14:modId xmlns:p14="http://schemas.microsoft.com/office/powerpoint/2010/main" val="3799976250"/>
              </p:ext>
            </p:extLst>
          </p:nvPr>
        </p:nvGraphicFramePr>
        <p:xfrm>
          <a:off x="698089" y="3106121"/>
          <a:ext cx="10235382" cy="741680"/>
        </p:xfrm>
        <a:graphic>
          <a:graphicData uri="http://schemas.openxmlformats.org/drawingml/2006/table">
            <a:tbl>
              <a:tblPr firstRow="1" bandRow="1">
                <a:tableStyleId>{5C22544A-7EE6-4342-B048-85BDC9FD1C3A}</a:tableStyleId>
              </a:tblPr>
              <a:tblGrid>
                <a:gridCol w="766917">
                  <a:extLst>
                    <a:ext uri="{9D8B030D-6E8A-4147-A177-3AD203B41FA5}">
                      <a16:colId xmlns:a16="http://schemas.microsoft.com/office/drawing/2014/main" val="1101387362"/>
                    </a:ext>
                  </a:extLst>
                </a:gridCol>
                <a:gridCol w="1376517">
                  <a:extLst>
                    <a:ext uri="{9D8B030D-6E8A-4147-A177-3AD203B41FA5}">
                      <a16:colId xmlns:a16="http://schemas.microsoft.com/office/drawing/2014/main" val="2403710434"/>
                    </a:ext>
                  </a:extLst>
                </a:gridCol>
                <a:gridCol w="1563329">
                  <a:extLst>
                    <a:ext uri="{9D8B030D-6E8A-4147-A177-3AD203B41FA5}">
                      <a16:colId xmlns:a16="http://schemas.microsoft.com/office/drawing/2014/main" val="3980088163"/>
                    </a:ext>
                  </a:extLst>
                </a:gridCol>
                <a:gridCol w="1986116">
                  <a:extLst>
                    <a:ext uri="{9D8B030D-6E8A-4147-A177-3AD203B41FA5}">
                      <a16:colId xmlns:a16="http://schemas.microsoft.com/office/drawing/2014/main" val="3155525339"/>
                    </a:ext>
                  </a:extLst>
                </a:gridCol>
                <a:gridCol w="1681316">
                  <a:extLst>
                    <a:ext uri="{9D8B030D-6E8A-4147-A177-3AD203B41FA5}">
                      <a16:colId xmlns:a16="http://schemas.microsoft.com/office/drawing/2014/main" val="1396972508"/>
                    </a:ext>
                  </a:extLst>
                </a:gridCol>
                <a:gridCol w="2861187">
                  <a:extLst>
                    <a:ext uri="{9D8B030D-6E8A-4147-A177-3AD203B41FA5}">
                      <a16:colId xmlns:a16="http://schemas.microsoft.com/office/drawing/2014/main" val="323424099"/>
                    </a:ext>
                  </a:extLst>
                </a:gridCol>
              </a:tblGrid>
              <a:tr h="370840">
                <a:tc>
                  <a:txBody>
                    <a:bodyPr/>
                    <a:lstStyle/>
                    <a:p>
                      <a:r>
                        <a:rPr lang="en-IN" dirty="0"/>
                        <a:t>Id</a:t>
                      </a:r>
                    </a:p>
                  </a:txBody>
                  <a:tcPr/>
                </a:tc>
                <a:tc>
                  <a:txBody>
                    <a:bodyPr/>
                    <a:lstStyle/>
                    <a:p>
                      <a:r>
                        <a:rPr lang="en-IN" dirty="0" err="1"/>
                        <a:t>vehicleno</a:t>
                      </a:r>
                      <a:endParaRPr lang="en-IN" dirty="0"/>
                    </a:p>
                  </a:txBody>
                  <a:tcPr/>
                </a:tc>
                <a:tc>
                  <a:txBody>
                    <a:bodyPr/>
                    <a:lstStyle/>
                    <a:p>
                      <a:r>
                        <a:rPr lang="en-IN" dirty="0"/>
                        <a:t>Out Time</a:t>
                      </a:r>
                    </a:p>
                  </a:txBody>
                  <a:tcPr/>
                </a:tc>
                <a:tc>
                  <a:txBody>
                    <a:bodyPr/>
                    <a:lstStyle/>
                    <a:p>
                      <a:r>
                        <a:rPr lang="en-IN" dirty="0"/>
                        <a:t>Product Name</a:t>
                      </a:r>
                    </a:p>
                  </a:txBody>
                  <a:tcPr/>
                </a:tc>
                <a:tc>
                  <a:txBody>
                    <a:bodyPr/>
                    <a:lstStyle/>
                    <a:p>
                      <a:r>
                        <a:rPr lang="en-IN" dirty="0"/>
                        <a:t>Quantity</a:t>
                      </a:r>
                    </a:p>
                  </a:txBody>
                  <a:tcPr/>
                </a:tc>
                <a:tc>
                  <a:txBody>
                    <a:bodyPr/>
                    <a:lstStyle/>
                    <a:p>
                      <a:r>
                        <a:rPr lang="en-IN" dirty="0"/>
                        <a:t>Delivery Address</a:t>
                      </a:r>
                    </a:p>
                  </a:txBody>
                  <a:tcPr/>
                </a:tc>
                <a:extLst>
                  <a:ext uri="{0D108BD9-81ED-4DB2-BD59-A6C34878D82A}">
                    <a16:rowId xmlns:a16="http://schemas.microsoft.com/office/drawing/2014/main" val="2249149943"/>
                  </a:ext>
                </a:extLst>
              </a:tr>
              <a:tr h="37084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1449076963"/>
                  </a:ext>
                </a:extLst>
              </a:tr>
            </a:tbl>
          </a:graphicData>
        </a:graphic>
      </p:graphicFrame>
      <p:graphicFrame>
        <p:nvGraphicFramePr>
          <p:cNvPr id="6" name="Table 5">
            <a:extLst>
              <a:ext uri="{FF2B5EF4-FFF2-40B4-BE49-F238E27FC236}">
                <a16:creationId xmlns:a16="http://schemas.microsoft.com/office/drawing/2014/main" id="{95D83068-5A00-E4AB-1A9F-5B2DE337992A}"/>
              </a:ext>
            </a:extLst>
          </p:cNvPr>
          <p:cNvGraphicFramePr>
            <a:graphicFrameLocks noGrp="1"/>
          </p:cNvGraphicFramePr>
          <p:nvPr>
            <p:extLst>
              <p:ext uri="{D42A27DB-BD31-4B8C-83A1-F6EECF244321}">
                <p14:modId xmlns:p14="http://schemas.microsoft.com/office/powerpoint/2010/main" val="3193609147"/>
              </p:ext>
            </p:extLst>
          </p:nvPr>
        </p:nvGraphicFramePr>
        <p:xfrm>
          <a:off x="1196258" y="4601061"/>
          <a:ext cx="8128000" cy="741680"/>
        </p:xfrm>
        <a:graphic>
          <a:graphicData uri="http://schemas.openxmlformats.org/drawingml/2006/table">
            <a:tbl>
              <a:tblPr firstRow="1" bandRow="1">
                <a:tableStyleId>{5C22544A-7EE6-4342-B048-85BDC9FD1C3A}</a:tableStyleId>
              </a:tblPr>
              <a:tblGrid>
                <a:gridCol w="1537110">
                  <a:extLst>
                    <a:ext uri="{9D8B030D-6E8A-4147-A177-3AD203B41FA5}">
                      <a16:colId xmlns:a16="http://schemas.microsoft.com/office/drawing/2014/main" val="3476774285"/>
                    </a:ext>
                  </a:extLst>
                </a:gridCol>
                <a:gridCol w="2526890">
                  <a:extLst>
                    <a:ext uri="{9D8B030D-6E8A-4147-A177-3AD203B41FA5}">
                      <a16:colId xmlns:a16="http://schemas.microsoft.com/office/drawing/2014/main" val="921434340"/>
                    </a:ext>
                  </a:extLst>
                </a:gridCol>
                <a:gridCol w="2032000">
                  <a:extLst>
                    <a:ext uri="{9D8B030D-6E8A-4147-A177-3AD203B41FA5}">
                      <a16:colId xmlns:a16="http://schemas.microsoft.com/office/drawing/2014/main" val="1012986549"/>
                    </a:ext>
                  </a:extLst>
                </a:gridCol>
                <a:gridCol w="2032000">
                  <a:extLst>
                    <a:ext uri="{9D8B030D-6E8A-4147-A177-3AD203B41FA5}">
                      <a16:colId xmlns:a16="http://schemas.microsoft.com/office/drawing/2014/main" val="3250365842"/>
                    </a:ext>
                  </a:extLst>
                </a:gridCol>
              </a:tblGrid>
              <a:tr h="370840">
                <a:tc>
                  <a:txBody>
                    <a:bodyPr/>
                    <a:lstStyle/>
                    <a:p>
                      <a:r>
                        <a:rPr lang="en-IN" dirty="0"/>
                        <a:t>            Id</a:t>
                      </a:r>
                    </a:p>
                  </a:txBody>
                  <a:tcPr/>
                </a:tc>
                <a:tc>
                  <a:txBody>
                    <a:bodyPr/>
                    <a:lstStyle/>
                    <a:p>
                      <a:r>
                        <a:rPr lang="en-IN" dirty="0"/>
                        <a:t>Product Name</a:t>
                      </a:r>
                    </a:p>
                  </a:txBody>
                  <a:tcPr/>
                </a:tc>
                <a:tc>
                  <a:txBody>
                    <a:bodyPr/>
                    <a:lstStyle/>
                    <a:p>
                      <a:r>
                        <a:rPr lang="en-IN" dirty="0"/>
                        <a:t>    Time &amp; Date</a:t>
                      </a:r>
                    </a:p>
                  </a:txBody>
                  <a:tcPr/>
                </a:tc>
                <a:tc>
                  <a:txBody>
                    <a:bodyPr/>
                    <a:lstStyle/>
                    <a:p>
                      <a:r>
                        <a:rPr lang="en-IN" dirty="0"/>
                        <a:t>  Reason</a:t>
                      </a:r>
                    </a:p>
                  </a:txBody>
                  <a:tcPr/>
                </a:tc>
                <a:extLst>
                  <a:ext uri="{0D108BD9-81ED-4DB2-BD59-A6C34878D82A}">
                    <a16:rowId xmlns:a16="http://schemas.microsoft.com/office/drawing/2014/main" val="3182647305"/>
                  </a:ext>
                </a:extLst>
              </a:tr>
              <a:tr h="37084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3724327864"/>
                  </a:ext>
                </a:extLst>
              </a:tr>
            </a:tbl>
          </a:graphicData>
        </a:graphic>
      </p:graphicFrame>
    </p:spTree>
    <p:extLst>
      <p:ext uri="{BB962C8B-B14F-4D97-AF65-F5344CB8AC3E}">
        <p14:creationId xmlns:p14="http://schemas.microsoft.com/office/powerpoint/2010/main" val="20373803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B0BA4-4CC1-29F5-C782-455079FB0394}"/>
              </a:ext>
            </a:extLst>
          </p:cNvPr>
          <p:cNvSpPr>
            <a:spLocks noGrp="1"/>
          </p:cNvSpPr>
          <p:nvPr>
            <p:ph type="title"/>
          </p:nvPr>
        </p:nvSpPr>
        <p:spPr>
          <a:xfrm>
            <a:off x="1140351" y="285135"/>
            <a:ext cx="9875520" cy="476865"/>
          </a:xfrm>
        </p:spPr>
        <p:txBody>
          <a:bodyPr>
            <a:normAutofit fontScale="90000"/>
          </a:bodyPr>
          <a:lstStyle/>
          <a:p>
            <a:r>
              <a:rPr lang="en-US" dirty="0"/>
              <a:t>.</a:t>
            </a:r>
            <a:br>
              <a:rPr lang="en-US" dirty="0"/>
            </a:br>
            <a:endParaRPr lang="en-IN" dirty="0"/>
          </a:p>
        </p:txBody>
      </p:sp>
      <p:sp>
        <p:nvSpPr>
          <p:cNvPr id="3" name="Content Placeholder 2">
            <a:extLst>
              <a:ext uri="{FF2B5EF4-FFF2-40B4-BE49-F238E27FC236}">
                <a16:creationId xmlns:a16="http://schemas.microsoft.com/office/drawing/2014/main" id="{61F22A5D-1D3A-ABD4-404C-DF3C464A873C}"/>
              </a:ext>
            </a:extLst>
          </p:cNvPr>
          <p:cNvSpPr>
            <a:spLocks noGrp="1"/>
          </p:cNvSpPr>
          <p:nvPr>
            <p:ph idx="1"/>
          </p:nvPr>
        </p:nvSpPr>
        <p:spPr>
          <a:xfrm>
            <a:off x="609600" y="363794"/>
            <a:ext cx="10406271" cy="5732206"/>
          </a:xfrm>
        </p:spPr>
        <p:txBody>
          <a:bodyPr/>
          <a:lstStyle/>
          <a:p>
            <a:r>
              <a:rPr lang="en-US" dirty="0"/>
              <a:t>Customer:</a:t>
            </a:r>
          </a:p>
          <a:p>
            <a:endParaRPr lang="en-IN" dirty="0"/>
          </a:p>
        </p:txBody>
      </p:sp>
      <p:graphicFrame>
        <p:nvGraphicFramePr>
          <p:cNvPr id="4" name="Table 3">
            <a:extLst>
              <a:ext uri="{FF2B5EF4-FFF2-40B4-BE49-F238E27FC236}">
                <a16:creationId xmlns:a16="http://schemas.microsoft.com/office/drawing/2014/main" id="{3C20900F-0732-3648-9510-8FAD0DCD7900}"/>
              </a:ext>
            </a:extLst>
          </p:cNvPr>
          <p:cNvGraphicFramePr>
            <a:graphicFrameLocks noGrp="1"/>
          </p:cNvGraphicFramePr>
          <p:nvPr>
            <p:extLst>
              <p:ext uri="{D42A27DB-BD31-4B8C-83A1-F6EECF244321}">
                <p14:modId xmlns:p14="http://schemas.microsoft.com/office/powerpoint/2010/main" val="3073735714"/>
              </p:ext>
            </p:extLst>
          </p:nvPr>
        </p:nvGraphicFramePr>
        <p:xfrm>
          <a:off x="1140351" y="1248696"/>
          <a:ext cx="8144388" cy="1022555"/>
        </p:xfrm>
        <a:graphic>
          <a:graphicData uri="http://schemas.openxmlformats.org/drawingml/2006/table">
            <a:tbl>
              <a:tblPr firstRow="1" bandRow="1">
                <a:tableStyleId>{5C22544A-7EE6-4342-B048-85BDC9FD1C3A}</a:tableStyleId>
              </a:tblPr>
              <a:tblGrid>
                <a:gridCol w="1357398">
                  <a:extLst>
                    <a:ext uri="{9D8B030D-6E8A-4147-A177-3AD203B41FA5}">
                      <a16:colId xmlns:a16="http://schemas.microsoft.com/office/drawing/2014/main" val="2503632015"/>
                    </a:ext>
                  </a:extLst>
                </a:gridCol>
                <a:gridCol w="1356305">
                  <a:extLst>
                    <a:ext uri="{9D8B030D-6E8A-4147-A177-3AD203B41FA5}">
                      <a16:colId xmlns:a16="http://schemas.microsoft.com/office/drawing/2014/main" val="3981472941"/>
                    </a:ext>
                  </a:extLst>
                </a:gridCol>
                <a:gridCol w="1288217">
                  <a:extLst>
                    <a:ext uri="{9D8B030D-6E8A-4147-A177-3AD203B41FA5}">
                      <a16:colId xmlns:a16="http://schemas.microsoft.com/office/drawing/2014/main" val="2329535473"/>
                    </a:ext>
                  </a:extLst>
                </a:gridCol>
                <a:gridCol w="1427672">
                  <a:extLst>
                    <a:ext uri="{9D8B030D-6E8A-4147-A177-3AD203B41FA5}">
                      <a16:colId xmlns:a16="http://schemas.microsoft.com/office/drawing/2014/main" val="2406296725"/>
                    </a:ext>
                  </a:extLst>
                </a:gridCol>
                <a:gridCol w="1357398">
                  <a:extLst>
                    <a:ext uri="{9D8B030D-6E8A-4147-A177-3AD203B41FA5}">
                      <a16:colId xmlns:a16="http://schemas.microsoft.com/office/drawing/2014/main" val="4145433798"/>
                    </a:ext>
                  </a:extLst>
                </a:gridCol>
                <a:gridCol w="1357398">
                  <a:extLst>
                    <a:ext uri="{9D8B030D-6E8A-4147-A177-3AD203B41FA5}">
                      <a16:colId xmlns:a16="http://schemas.microsoft.com/office/drawing/2014/main" val="1169794320"/>
                    </a:ext>
                  </a:extLst>
                </a:gridCol>
              </a:tblGrid>
              <a:tr h="648155">
                <a:tc>
                  <a:txBody>
                    <a:bodyPr/>
                    <a:lstStyle/>
                    <a:p>
                      <a:r>
                        <a:rPr lang="en-US" dirty="0"/>
                        <a:t>     </a:t>
                      </a:r>
                      <a:r>
                        <a:rPr lang="en-US" dirty="0" err="1"/>
                        <a:t>cId</a:t>
                      </a:r>
                      <a:endParaRPr lang="en-IN" dirty="0"/>
                    </a:p>
                  </a:txBody>
                  <a:tcPr/>
                </a:tc>
                <a:tc>
                  <a:txBody>
                    <a:bodyPr/>
                    <a:lstStyle/>
                    <a:p>
                      <a:r>
                        <a:rPr lang="en-US" dirty="0"/>
                        <a:t> </a:t>
                      </a:r>
                      <a:r>
                        <a:rPr lang="en-US" dirty="0" err="1"/>
                        <a:t>CName</a:t>
                      </a:r>
                      <a:endParaRPr lang="en-IN" dirty="0"/>
                    </a:p>
                  </a:txBody>
                  <a:tcPr/>
                </a:tc>
                <a:tc>
                  <a:txBody>
                    <a:bodyPr/>
                    <a:lstStyle/>
                    <a:p>
                      <a:r>
                        <a:rPr lang="en-US" dirty="0"/>
                        <a:t>Mobile No</a:t>
                      </a:r>
                      <a:endParaRPr lang="en-IN" dirty="0"/>
                    </a:p>
                  </a:txBody>
                  <a:tcPr/>
                </a:tc>
                <a:tc>
                  <a:txBody>
                    <a:bodyPr/>
                    <a:lstStyle/>
                    <a:p>
                      <a:r>
                        <a:rPr lang="en-US" dirty="0" err="1"/>
                        <a:t>PName</a:t>
                      </a:r>
                      <a:endParaRPr lang="en-IN" dirty="0"/>
                    </a:p>
                  </a:txBody>
                  <a:tcPr/>
                </a:tc>
                <a:tc>
                  <a:txBody>
                    <a:bodyPr/>
                    <a:lstStyle/>
                    <a:p>
                      <a:r>
                        <a:rPr lang="en-US" dirty="0"/>
                        <a:t>Price</a:t>
                      </a:r>
                      <a:endParaRPr lang="en-IN" dirty="0"/>
                    </a:p>
                  </a:txBody>
                  <a:tcPr/>
                </a:tc>
                <a:tc>
                  <a:txBody>
                    <a:bodyPr/>
                    <a:lstStyle/>
                    <a:p>
                      <a:r>
                        <a:rPr lang="en-US" dirty="0"/>
                        <a:t>Address</a:t>
                      </a:r>
                      <a:endParaRPr lang="en-IN" dirty="0"/>
                    </a:p>
                  </a:txBody>
                  <a:tcPr/>
                </a:tc>
                <a:extLst>
                  <a:ext uri="{0D108BD9-81ED-4DB2-BD59-A6C34878D82A}">
                    <a16:rowId xmlns:a16="http://schemas.microsoft.com/office/drawing/2014/main" val="711894421"/>
                  </a:ext>
                </a:extLst>
              </a:tr>
              <a:tr h="374400">
                <a:tc>
                  <a:txBody>
                    <a:bodyPr/>
                    <a:lstStyle/>
                    <a:p>
                      <a:endParaRPr lang="en-IN"/>
                    </a:p>
                  </a:txBody>
                  <a:tcPr/>
                </a:tc>
                <a:tc>
                  <a:txBody>
                    <a:bodyPr/>
                    <a:lstStyle/>
                    <a:p>
                      <a:endParaRPr lang="en-IN"/>
                    </a:p>
                  </a:txBody>
                  <a:tcPr/>
                </a:tc>
                <a:tc>
                  <a:txBody>
                    <a:bodyPr/>
                    <a:lstStyle/>
                    <a:p>
                      <a:endParaRPr lang="en-IN" dirty="0"/>
                    </a:p>
                  </a:txBody>
                  <a:tcPr/>
                </a:tc>
                <a:tc>
                  <a:txBody>
                    <a:bodyPr/>
                    <a:lstStyle/>
                    <a:p>
                      <a:endParaRPr lang="en-IN" dirty="0"/>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4099737530"/>
                  </a:ext>
                </a:extLst>
              </a:tr>
            </a:tbl>
          </a:graphicData>
        </a:graphic>
      </p:graphicFrame>
    </p:spTree>
    <p:extLst>
      <p:ext uri="{BB962C8B-B14F-4D97-AF65-F5344CB8AC3E}">
        <p14:creationId xmlns:p14="http://schemas.microsoft.com/office/powerpoint/2010/main" val="4600477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E770B-ADED-16F5-6AD0-2CA0D3F39EDF}"/>
              </a:ext>
            </a:extLst>
          </p:cNvPr>
          <p:cNvSpPr>
            <a:spLocks noGrp="1"/>
          </p:cNvSpPr>
          <p:nvPr>
            <p:ph type="title"/>
          </p:nvPr>
        </p:nvSpPr>
        <p:spPr>
          <a:xfrm>
            <a:off x="353961" y="304799"/>
            <a:ext cx="11405420" cy="796413"/>
          </a:xfrm>
        </p:spPr>
        <p:txBody>
          <a:bodyPr>
            <a:normAutofit/>
          </a:bodyPr>
          <a:lstStyle/>
          <a:p>
            <a:r>
              <a:rPr lang="en-IN" dirty="0"/>
              <a:t>Roles:</a:t>
            </a:r>
          </a:p>
        </p:txBody>
      </p:sp>
      <p:sp>
        <p:nvSpPr>
          <p:cNvPr id="3" name="Content Placeholder 2">
            <a:extLst>
              <a:ext uri="{FF2B5EF4-FFF2-40B4-BE49-F238E27FC236}">
                <a16:creationId xmlns:a16="http://schemas.microsoft.com/office/drawing/2014/main" id="{394F33DC-AF4D-1C91-0B36-8A47EBAA5BCF}"/>
              </a:ext>
            </a:extLst>
          </p:cNvPr>
          <p:cNvSpPr>
            <a:spLocks noGrp="1"/>
          </p:cNvSpPr>
          <p:nvPr>
            <p:ph idx="1"/>
          </p:nvPr>
        </p:nvSpPr>
        <p:spPr>
          <a:xfrm>
            <a:off x="353961" y="1415845"/>
            <a:ext cx="11405419" cy="5137355"/>
          </a:xfrm>
        </p:spPr>
        <p:txBody>
          <a:bodyPr/>
          <a:lstStyle/>
          <a:p>
            <a:r>
              <a:rPr lang="en-IN" b="1" dirty="0"/>
              <a:t>Manager</a:t>
            </a:r>
            <a:r>
              <a:rPr lang="en-IN" dirty="0"/>
              <a:t>  </a:t>
            </a:r>
            <a:r>
              <a:rPr lang="en-IN" sz="2400" dirty="0">
                <a:solidFill>
                  <a:schemeClr val="tx1"/>
                </a:solidFill>
              </a:rPr>
              <a:t>: He have all Access  He add/remove the product , so Perform All Operations</a:t>
            </a:r>
            <a:r>
              <a:rPr lang="en-IN" dirty="0">
                <a:solidFill>
                  <a:schemeClr val="tx1"/>
                </a:solidFill>
              </a:rPr>
              <a:t>.</a:t>
            </a:r>
          </a:p>
          <a:p>
            <a:r>
              <a:rPr lang="en-IN" b="1" dirty="0"/>
              <a:t>Seller </a:t>
            </a:r>
            <a:r>
              <a:rPr lang="en-IN" dirty="0">
                <a:solidFill>
                  <a:schemeClr val="tx1"/>
                </a:solidFill>
              </a:rPr>
              <a:t>         : Verifying the unloading products, maintain the products, Generate the </a:t>
            </a:r>
            <a:r>
              <a:rPr lang="en-IN" dirty="0" err="1">
                <a:solidFill>
                  <a:schemeClr val="tx1"/>
                </a:solidFill>
              </a:rPr>
              <a:t>gatepasses</a:t>
            </a:r>
            <a:r>
              <a:rPr lang="en-IN" dirty="0">
                <a:solidFill>
                  <a:schemeClr val="tx1"/>
                </a:solidFill>
              </a:rPr>
              <a:t>.</a:t>
            </a:r>
          </a:p>
          <a:p>
            <a:r>
              <a:rPr lang="en-IN" b="1" dirty="0"/>
              <a:t>Security</a:t>
            </a:r>
            <a:r>
              <a:rPr lang="en-IN" b="1" dirty="0">
                <a:solidFill>
                  <a:schemeClr val="tx1"/>
                </a:solidFill>
              </a:rPr>
              <a:t> </a:t>
            </a:r>
            <a:r>
              <a:rPr lang="en-IN" dirty="0">
                <a:solidFill>
                  <a:schemeClr val="tx1"/>
                </a:solidFill>
              </a:rPr>
              <a:t>   </a:t>
            </a:r>
            <a:r>
              <a:rPr lang="en-IN" sz="2400" dirty="0">
                <a:solidFill>
                  <a:schemeClr val="tx1"/>
                </a:solidFill>
              </a:rPr>
              <a:t>:verify the </a:t>
            </a:r>
            <a:r>
              <a:rPr lang="en-IN" sz="2400" dirty="0" err="1">
                <a:solidFill>
                  <a:schemeClr val="tx1"/>
                </a:solidFill>
              </a:rPr>
              <a:t>gatepass</a:t>
            </a:r>
            <a:r>
              <a:rPr lang="en-IN" sz="2400" dirty="0">
                <a:solidFill>
                  <a:schemeClr val="tx1"/>
                </a:solidFill>
              </a:rPr>
              <a:t> &amp; allow the vehicles.</a:t>
            </a:r>
          </a:p>
          <a:p>
            <a:r>
              <a:rPr lang="en-IN" sz="2400" b="1" dirty="0"/>
              <a:t>Driver</a:t>
            </a:r>
            <a:r>
              <a:rPr lang="en-IN" sz="2400" dirty="0"/>
              <a:t> </a:t>
            </a:r>
            <a:r>
              <a:rPr lang="en-IN" sz="2400" dirty="0">
                <a:solidFill>
                  <a:schemeClr val="tx1"/>
                </a:solidFill>
              </a:rPr>
              <a:t>     :  Start and End the trip.</a:t>
            </a:r>
          </a:p>
          <a:p>
            <a:endParaRPr lang="en-IN" sz="2400" dirty="0">
              <a:solidFill>
                <a:schemeClr val="tx1"/>
              </a:solidFill>
            </a:endParaRPr>
          </a:p>
          <a:p>
            <a:endParaRPr lang="en-IN" dirty="0">
              <a:solidFill>
                <a:schemeClr val="tx1"/>
              </a:solidFill>
            </a:endParaRPr>
          </a:p>
          <a:p>
            <a:endParaRPr lang="en-IN" dirty="0">
              <a:solidFill>
                <a:schemeClr val="tx1"/>
              </a:solidFill>
            </a:endParaRPr>
          </a:p>
          <a:p>
            <a:endParaRPr lang="en-IN" dirty="0">
              <a:solidFill>
                <a:schemeClr val="tx1"/>
              </a:solidFill>
            </a:endParaRPr>
          </a:p>
          <a:p>
            <a:pPr marL="45720" indent="0">
              <a:buNone/>
            </a:pPr>
            <a:endParaRPr lang="en-IN" dirty="0">
              <a:solidFill>
                <a:schemeClr val="tx1"/>
              </a:solidFill>
            </a:endParaRPr>
          </a:p>
          <a:p>
            <a:endParaRPr lang="en-IN" dirty="0"/>
          </a:p>
        </p:txBody>
      </p:sp>
    </p:spTree>
    <p:extLst>
      <p:ext uri="{BB962C8B-B14F-4D97-AF65-F5344CB8AC3E}">
        <p14:creationId xmlns:p14="http://schemas.microsoft.com/office/powerpoint/2010/main" val="1153011157"/>
      </p:ext>
    </p:extLst>
  </p:cSld>
  <p:clrMapOvr>
    <a:masterClrMapping/>
  </p:clrMapOvr>
</p:sld>
</file>

<file path=ppt/theme/theme1.xml><?xml version="1.0" encoding="utf-8"?>
<a:theme xmlns:a="http://schemas.openxmlformats.org/drawingml/2006/main" name="Basis">
  <a:themeElements>
    <a:clrScheme name="Basis">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D9D01AC2-EE7D-4E49-99EE-8E62E4E7E8A7}"/>
    </a:ext>
  </a:extLst>
</a:theme>
</file>

<file path=docProps/app.xml><?xml version="1.0" encoding="utf-8"?>
<Properties xmlns="http://schemas.openxmlformats.org/officeDocument/2006/extended-properties" xmlns:vt="http://schemas.openxmlformats.org/officeDocument/2006/docPropsVTypes">
  <Template>TM03457444[[fn=Basis]]</Template>
  <TotalTime>598</TotalTime>
  <Words>439</Words>
  <Application>Microsoft Office PowerPoint</Application>
  <PresentationFormat>Widescreen</PresentationFormat>
  <Paragraphs>109</Paragraphs>
  <Slides>9</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9</vt:i4>
      </vt:variant>
    </vt:vector>
  </HeadingPairs>
  <TitlesOfParts>
    <vt:vector size="11" baseType="lpstr">
      <vt:lpstr>Corbel</vt:lpstr>
      <vt:lpstr>Basis</vt:lpstr>
      <vt:lpstr>Wearhousr management system </vt:lpstr>
      <vt:lpstr>Process:</vt:lpstr>
      <vt:lpstr>. </vt:lpstr>
      <vt:lpstr>Technology Stack:</vt:lpstr>
      <vt:lpstr>DashBoard:</vt:lpstr>
      <vt:lpstr>Tables:</vt:lpstr>
      <vt:lpstr>. </vt:lpstr>
      <vt:lpstr>. </vt:lpstr>
      <vt:lpstr>Roles: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Mohan moturi</dc:creator>
  <cp:lastModifiedBy>Mohan moturi</cp:lastModifiedBy>
  <cp:revision>6</cp:revision>
  <dcterms:created xsi:type="dcterms:W3CDTF">2025-12-04T06:02:25Z</dcterms:created>
  <dcterms:modified xsi:type="dcterms:W3CDTF">2025-12-12T08:03:33Z</dcterms:modified>
</cp:coreProperties>
</file>